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6" autoAdjust="0"/>
    <p:restoredTop sz="94660"/>
  </p:normalViewPr>
  <p:slideViewPr>
    <p:cSldViewPr snapToGrid="0">
      <p:cViewPr varScale="1">
        <p:scale>
          <a:sx n="58" d="100"/>
          <a:sy n="58" d="100"/>
        </p:scale>
        <p:origin x="7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B4F8-DC3C-41B8-8097-87D495133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E3EEA-7458-4F10-8EC7-129C78F35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033EA-C71A-4A88-AA72-B5A0863A3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6D61E-2412-47B3-A831-EF791B8A7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17B37-FB58-46C3-A1D0-FA873812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3084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57D3-C19A-4CDF-8FCA-2C7CB0A9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4D37B-A3F9-4763-A69F-6620A6987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7DCCC-B242-4FA5-B4EF-7179C312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74F35-C7E6-4732-AFE4-68873B05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2F31-9FF9-45D2-AC0C-8A11760C5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265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9036-353C-4D27-B7FC-CF64FCB1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0A1F2-628B-4719-8310-DC83BFEEC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A67BD-109F-4058-AEC5-C2E46705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2C7F9-D944-49F9-8AC0-66D514689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85850-223C-469A-B50B-ACD06DD3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1436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085B0-DB79-47ED-8A64-BC58639D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B5BA6-1EFE-4870-AF41-7720401AA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92732-DC1D-4665-BE21-48AFDA38C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7E2A0-6D06-4A79-804F-0A8CFCBF5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A15B-CE8D-4177-81E7-50189E2C2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E890D-2553-4A63-9060-507718D0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0474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B9D7-5ABB-4904-B8B2-035C3E9E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1E48B-96C2-4FF2-AA51-0BF33E0E3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75B9B-6AB3-4A23-8D82-2EEE7DD82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27B36E-E9E2-46A9-A79E-5DC46BBD4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F69188-8245-4B35-A92C-3B44E9EE2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C7562-833C-4768-8E97-4F4003CE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A7CB0-EFF0-4BEE-9259-B1B2EFE1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C8816E-6EED-4F5E-A53E-E8749614F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798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97C95-C94F-4003-97BF-C3125B08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FF287E-C48F-4AF5-AD58-839745D7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293CB8-FEA2-4978-833B-B6F87D6A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BF912-452F-4F82-90E3-332261D9A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665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2A244-1E3A-47AD-91EE-BEC1B6E2C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2DE3C4-FFDE-4A61-B140-A036BB6D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A721B-D24C-4DEB-AEEB-392CCC2D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743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6BFC-347A-4BAA-B00A-AADB4071E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98ADA-4B12-4714-895E-F83D6EF09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62B04-8D1A-4C66-B921-DC7AC93A8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3DA62-97F8-4A1D-A3F4-0B364389F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C7D02-CD7C-4C06-8D1F-6B8EA5CD7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2763F-216C-467C-8E90-4B0BE99F1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3685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575D-82CC-45CA-A2C2-69A8F9B98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9FD72-EF22-4A97-ABA0-08BD5977A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631B8-B800-4E50-8EDF-C54437F1D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CF7F1-4B6A-42A2-ADF0-74639AB5B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0349B-B79D-4892-811F-620FE71CB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E93B0-5984-44ED-9A56-807036423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040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7E0E-5344-4F56-996D-B44DB1FB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FC7B7-5AFD-4ABC-A831-D48561B09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6D0B7-1A3E-4F2B-900E-FE3B61F1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5CE59-57AD-47BE-96C3-F2936F92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2D0CC-0A1A-468E-BBA1-508907E2C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583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145759-F0A2-4E31-B75C-00E68EFA6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54EEC-888A-4FC0-BD7A-29850B224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9B427-4BE7-4C26-AF98-F6B4B26D8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94A1D-B989-4D43-AC72-A1F10936BA8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7C403-6F95-4042-82E5-6A0C82C45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A0AA3-49A7-4750-9C06-002BFC4D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2959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B1F589-E528-4C8F-83AC-7A9B81121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83D3C-8E48-4F83-B01A-6AA78BC14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C39D2-52D7-44F7-B1A6-6279D7E5F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94A1D-B989-4D43-AC72-A1F10936BA89}" type="datetimeFigureOut">
              <a:rPr lang="en-ID" smtClean="0"/>
              <a:t>16/06/2026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8298F-9D80-4D5F-B4F2-EB41AE247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CF3F0-BDC0-40C4-B1F7-CEDA997E3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449E-29E4-4D81-ACD3-03819DFFAE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473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37308E-6386-4B16-AB03-078C712BDBEC}"/>
              </a:ext>
            </a:extLst>
          </p:cNvPr>
          <p:cNvSpPr txBox="1"/>
          <p:nvPr/>
        </p:nvSpPr>
        <p:spPr>
          <a:xfrm>
            <a:off x="223520" y="815612"/>
            <a:ext cx="82380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Simulasi</a:t>
            </a:r>
            <a:r>
              <a:rPr lang="en-US" sz="3200" b="1" dirty="0"/>
              <a:t> Smart Home </a:t>
            </a:r>
            <a:r>
              <a:rPr lang="en-US" sz="3200" b="1" dirty="0" err="1"/>
              <a:t>Berbasis</a:t>
            </a:r>
            <a:r>
              <a:rPr lang="en-US" sz="3200" b="1" dirty="0"/>
              <a:t> Internet of Things </a:t>
            </a:r>
            <a:r>
              <a:rPr lang="en-US" sz="3200" b="1" dirty="0" err="1"/>
              <a:t>Menggunakan</a:t>
            </a:r>
            <a:r>
              <a:rPr lang="en-US" sz="3200" b="1" dirty="0"/>
              <a:t> Cisco Packet Tracer</a:t>
            </a:r>
            <a:endParaRPr lang="id-ID" sz="3200" b="1" dirty="0"/>
          </a:p>
          <a:p>
            <a:r>
              <a:rPr lang="en-ID" sz="3200" dirty="0"/>
              <a:t>Mata </a:t>
            </a:r>
            <a:r>
              <a:rPr lang="en-ID" sz="3200" dirty="0" err="1"/>
              <a:t>Kuliah</a:t>
            </a:r>
            <a:r>
              <a:rPr lang="en-ID" sz="3200" dirty="0"/>
              <a:t> : </a:t>
            </a:r>
            <a:r>
              <a:rPr lang="id-ID" sz="3200" dirty="0"/>
              <a:t>Internet </a:t>
            </a:r>
            <a:r>
              <a:rPr lang="id-ID" sz="3200" dirty="0" err="1"/>
              <a:t>of</a:t>
            </a:r>
            <a:r>
              <a:rPr lang="id-ID" sz="3200" dirty="0"/>
              <a:t> </a:t>
            </a:r>
            <a:r>
              <a:rPr lang="id-ID" sz="3200" dirty="0" err="1"/>
              <a:t>Think</a:t>
            </a:r>
            <a:r>
              <a:rPr lang="id-ID" sz="3200" dirty="0"/>
              <a:t> (IF403)</a:t>
            </a:r>
            <a:endParaRPr lang="en-ID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BE44E7-0A56-4221-860D-560BB0DD54B1}"/>
              </a:ext>
            </a:extLst>
          </p:cNvPr>
          <p:cNvSpPr txBox="1"/>
          <p:nvPr/>
        </p:nvSpPr>
        <p:spPr>
          <a:xfrm>
            <a:off x="8920480" y="433480"/>
            <a:ext cx="304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sz="2000" dirty="0" err="1"/>
              <a:t>Disusun</a:t>
            </a:r>
            <a:r>
              <a:rPr lang="en-ID" sz="2000" dirty="0"/>
              <a:t> Oleh:</a:t>
            </a:r>
          </a:p>
          <a:p>
            <a:pPr algn="r"/>
            <a:r>
              <a:rPr lang="en-ID" sz="2000" b="1" dirty="0"/>
              <a:t>Hasta Satriya</a:t>
            </a:r>
            <a:br>
              <a:rPr lang="en-ID" sz="2000" dirty="0"/>
            </a:br>
            <a:r>
              <a:rPr lang="en-ID" sz="2000" b="1" dirty="0"/>
              <a:t>NIM : 240401010207</a:t>
            </a:r>
            <a:endParaRPr lang="en-ID" sz="2000" dirty="0"/>
          </a:p>
          <a:p>
            <a:pPr algn="r"/>
            <a:r>
              <a:rPr lang="en-ID" sz="2000" dirty="0"/>
              <a:t>Universitas </a:t>
            </a:r>
            <a:r>
              <a:rPr lang="en-ID" sz="2000" dirty="0" err="1"/>
              <a:t>Siber</a:t>
            </a:r>
            <a:r>
              <a:rPr lang="en-ID" sz="2000" dirty="0"/>
              <a:t> Asia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4C68EE-62CA-418D-B7F7-93D1428D75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91"/>
          <a:stretch/>
        </p:blipFill>
        <p:spPr>
          <a:xfrm>
            <a:off x="223520" y="2803826"/>
            <a:ext cx="7356596" cy="3015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E9A688-9EC0-4BA4-A189-DAEE91DC8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572" y="2046187"/>
            <a:ext cx="3384040" cy="415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47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34AB-90DC-4948-B1D8-2F593B632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532263"/>
          </a:xfrm>
        </p:spPr>
        <p:txBody>
          <a:bodyPr>
            <a:normAutofit fontScale="90000"/>
          </a:bodyPr>
          <a:lstStyle/>
          <a:p>
            <a:r>
              <a:rPr lang="en-ID" dirty="0" err="1"/>
              <a:t>Profil</a:t>
            </a:r>
            <a:r>
              <a:rPr lang="en-ID" dirty="0"/>
              <a:t> </a:t>
            </a:r>
            <a:r>
              <a:rPr lang="en-ID" dirty="0" err="1"/>
              <a:t>Proyek</a:t>
            </a:r>
            <a:endParaRPr lang="en-ID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790691E-96A6-408B-96CC-E32FF0E56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425414"/>
              </p:ext>
            </p:extLst>
          </p:nvPr>
        </p:nvGraphicFramePr>
        <p:xfrm>
          <a:off x="838200" y="1446663"/>
          <a:ext cx="926834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4174">
                  <a:extLst>
                    <a:ext uri="{9D8B030D-6E8A-4147-A177-3AD203B41FA5}">
                      <a16:colId xmlns:a16="http://schemas.microsoft.com/office/drawing/2014/main" val="3634470124"/>
                    </a:ext>
                  </a:extLst>
                </a:gridCol>
                <a:gridCol w="4634174">
                  <a:extLst>
                    <a:ext uri="{9D8B030D-6E8A-4147-A177-3AD203B41FA5}">
                      <a16:colId xmlns:a16="http://schemas.microsoft.com/office/drawing/2014/main" val="16410968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 err="1"/>
                        <a:t>Keterangan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dirty="0"/>
                        <a:t>Isi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631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Nama </a:t>
                      </a:r>
                      <a:r>
                        <a:rPr lang="en-ID" dirty="0" err="1"/>
                        <a:t>Mahasiswa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Hasta Satriya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7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NIM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240401010207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34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/>
                        <a:t>Mata Kuliah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Internet of Things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23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/>
                        <a:t>Tema 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Smart Home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2819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/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Cisco Packet Tracer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024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/>
                        <a:t>Jenis Simulasi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IoT Smart Home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29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/>
                        <a:t>Registration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Server0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704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Home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DLC100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26754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3163091-26D4-42BD-9E2B-CEAC5FCD1FB9}"/>
              </a:ext>
            </a:extLst>
          </p:cNvPr>
          <p:cNvSpPr/>
          <p:nvPr/>
        </p:nvSpPr>
        <p:spPr>
          <a:xfrm>
            <a:off x="613771" y="4927525"/>
            <a:ext cx="9717206" cy="10918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 err="1">
                <a:solidFill>
                  <a:schemeClr val="tx1"/>
                </a:solidFill>
              </a:rPr>
              <a:t>Proyek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ini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merupakan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simulasi</a:t>
            </a:r>
            <a:r>
              <a:rPr lang="en-ID" dirty="0">
                <a:solidFill>
                  <a:schemeClr val="tx1"/>
                </a:solidFill>
              </a:rPr>
              <a:t> Smart Home </a:t>
            </a:r>
            <a:r>
              <a:rPr lang="en-ID" dirty="0" err="1">
                <a:solidFill>
                  <a:schemeClr val="tx1"/>
                </a:solidFill>
              </a:rPr>
              <a:t>berbasis</a:t>
            </a:r>
            <a:r>
              <a:rPr lang="en-ID" dirty="0">
                <a:solidFill>
                  <a:schemeClr val="tx1"/>
                </a:solidFill>
              </a:rPr>
              <a:t> Internet of Things yang </a:t>
            </a:r>
            <a:r>
              <a:rPr lang="en-ID" dirty="0" err="1">
                <a:solidFill>
                  <a:schemeClr val="tx1"/>
                </a:solidFill>
              </a:rPr>
              <a:t>dibuat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menggunakan</a:t>
            </a:r>
            <a:r>
              <a:rPr lang="en-ID" dirty="0">
                <a:solidFill>
                  <a:schemeClr val="tx1"/>
                </a:solidFill>
              </a:rPr>
              <a:t> Cisco Packet Tracer </a:t>
            </a:r>
            <a:r>
              <a:rPr lang="en-ID" dirty="0" err="1">
                <a:solidFill>
                  <a:schemeClr val="tx1"/>
                </a:solidFill>
              </a:rPr>
              <a:t>untuk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memenuhi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tugas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Ujian</a:t>
            </a:r>
            <a:r>
              <a:rPr lang="en-ID" dirty="0">
                <a:solidFill>
                  <a:schemeClr val="tx1"/>
                </a:solidFill>
              </a:rPr>
              <a:t> Tengah Semester </a:t>
            </a:r>
            <a:r>
              <a:rPr lang="en-ID" dirty="0" err="1">
                <a:solidFill>
                  <a:schemeClr val="tx1"/>
                </a:solidFill>
              </a:rPr>
              <a:t>mata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kuliah</a:t>
            </a:r>
            <a:r>
              <a:rPr lang="en-ID" dirty="0">
                <a:solidFill>
                  <a:schemeClr val="tx1"/>
                </a:solidFill>
              </a:rPr>
              <a:t> Internet of Things.</a:t>
            </a:r>
          </a:p>
        </p:txBody>
      </p:sp>
    </p:spTree>
    <p:extLst>
      <p:ext uri="{BB962C8B-B14F-4D97-AF65-F5344CB8AC3E}">
        <p14:creationId xmlns:p14="http://schemas.microsoft.com/office/powerpoint/2010/main" val="4011490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3872-C2C3-420A-8893-ED06EFB5F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293" y="-139498"/>
            <a:ext cx="10515600" cy="1244547"/>
          </a:xfrm>
        </p:spPr>
        <p:txBody>
          <a:bodyPr>
            <a:normAutofit/>
          </a:bodyPr>
          <a:lstStyle/>
          <a:p>
            <a:r>
              <a:rPr lang="en-ID" sz="3200" dirty="0" err="1"/>
              <a:t>Latar</a:t>
            </a:r>
            <a:r>
              <a:rPr lang="en-ID" sz="3200" dirty="0"/>
              <a:t> </a:t>
            </a:r>
            <a:r>
              <a:rPr lang="en-ID" sz="3200" dirty="0" err="1"/>
              <a:t>Belakang</a:t>
            </a:r>
            <a:endParaRPr lang="en-ID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B6CB2-D1E0-4660-8024-707340023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245" y="870282"/>
            <a:ext cx="10515600" cy="3237694"/>
          </a:xfrm>
        </p:spPr>
        <p:txBody>
          <a:bodyPr>
            <a:normAutofit/>
          </a:bodyPr>
          <a:lstStyle/>
          <a:p>
            <a:r>
              <a:rPr lang="en-ID" sz="2000" dirty="0"/>
              <a:t>Internet of Things (IoT) </a:t>
            </a:r>
            <a:r>
              <a:rPr lang="en-ID" sz="2000" dirty="0" err="1"/>
              <a:t>merupakan</a:t>
            </a:r>
            <a:r>
              <a:rPr lang="en-ID" sz="2000" dirty="0"/>
              <a:t> </a:t>
            </a:r>
            <a:r>
              <a:rPr lang="en-ID" sz="2000" dirty="0" err="1"/>
              <a:t>konsep</a:t>
            </a:r>
            <a:r>
              <a:rPr lang="en-ID" sz="2000" dirty="0"/>
              <a:t> yang </a:t>
            </a:r>
            <a:r>
              <a:rPr lang="en-ID" sz="2000" dirty="0" err="1"/>
              <a:t>memungkinkan</a:t>
            </a:r>
            <a:r>
              <a:rPr lang="en-ID" sz="2000" dirty="0"/>
              <a:t> </a:t>
            </a:r>
            <a:r>
              <a:rPr lang="en-ID" sz="2000" dirty="0" err="1"/>
              <a:t>berbagai</a:t>
            </a:r>
            <a:r>
              <a:rPr lang="en-ID" sz="2000" dirty="0"/>
              <a:t> </a:t>
            </a:r>
            <a:r>
              <a:rPr lang="en-ID" sz="2000" dirty="0" err="1"/>
              <a:t>perangkat</a:t>
            </a:r>
            <a:r>
              <a:rPr lang="en-ID" sz="2000" dirty="0"/>
              <a:t> </a:t>
            </a:r>
            <a:r>
              <a:rPr lang="en-ID" sz="2000" dirty="0" err="1"/>
              <a:t>fisik</a:t>
            </a:r>
            <a:r>
              <a:rPr lang="en-ID" sz="2000" dirty="0"/>
              <a:t> </a:t>
            </a:r>
            <a:r>
              <a:rPr lang="en-ID" sz="2000" dirty="0" err="1"/>
              <a:t>terhubung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jaringan</a:t>
            </a:r>
            <a:r>
              <a:rPr lang="en-ID" sz="2000" dirty="0"/>
              <a:t> internet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saling</a:t>
            </a:r>
            <a:r>
              <a:rPr lang="en-ID" sz="2000" dirty="0"/>
              <a:t> </a:t>
            </a:r>
            <a:r>
              <a:rPr lang="en-ID" sz="2000" dirty="0" err="1"/>
              <a:t>bertukar</a:t>
            </a:r>
            <a:r>
              <a:rPr lang="en-ID" sz="2000" dirty="0"/>
              <a:t> data dan </a:t>
            </a:r>
            <a:r>
              <a:rPr lang="en-ID" sz="2000" dirty="0" err="1"/>
              <a:t>melakukan</a:t>
            </a:r>
            <a:r>
              <a:rPr lang="en-ID" sz="2000" dirty="0"/>
              <a:t> </a:t>
            </a:r>
            <a:r>
              <a:rPr lang="en-ID" sz="2000" dirty="0" err="1"/>
              <a:t>kontrol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otomatis</a:t>
            </a:r>
            <a:r>
              <a:rPr lang="en-ID" sz="2000" dirty="0"/>
              <a:t>.</a:t>
            </a:r>
          </a:p>
          <a:p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kehidupan</a:t>
            </a:r>
            <a:r>
              <a:rPr lang="en-ID" sz="2000" dirty="0"/>
              <a:t> </a:t>
            </a:r>
            <a:r>
              <a:rPr lang="en-ID" sz="2000" dirty="0" err="1"/>
              <a:t>sehari-hari</a:t>
            </a:r>
            <a:r>
              <a:rPr lang="en-ID" sz="2000" dirty="0"/>
              <a:t>, salah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implementasi</a:t>
            </a:r>
            <a:r>
              <a:rPr lang="en-ID" sz="2000" dirty="0"/>
              <a:t> IoT yang paling </a:t>
            </a:r>
            <a:r>
              <a:rPr lang="en-ID" sz="2000" dirty="0" err="1"/>
              <a:t>populer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Smart Home, </a:t>
            </a:r>
            <a:r>
              <a:rPr lang="en-ID" sz="2000" dirty="0" err="1"/>
              <a:t>yaitu</a:t>
            </a:r>
            <a:r>
              <a:rPr lang="en-ID" sz="2000" dirty="0"/>
              <a:t> </a:t>
            </a:r>
            <a:r>
              <a:rPr lang="en-ID" sz="2000" dirty="0" err="1"/>
              <a:t>rumah</a:t>
            </a:r>
            <a:r>
              <a:rPr lang="en-ID" sz="2000" dirty="0"/>
              <a:t> </a:t>
            </a:r>
            <a:r>
              <a:rPr lang="en-ID" sz="2000" dirty="0" err="1"/>
              <a:t>pintar</a:t>
            </a:r>
            <a:r>
              <a:rPr lang="en-ID" sz="2000" dirty="0"/>
              <a:t> yang </a:t>
            </a:r>
            <a:r>
              <a:rPr lang="en-ID" sz="2000" dirty="0" err="1"/>
              <a:t>memanfaatkan</a:t>
            </a:r>
            <a:r>
              <a:rPr lang="en-ID" sz="2000" dirty="0"/>
              <a:t> sensor, </a:t>
            </a:r>
            <a:r>
              <a:rPr lang="en-ID" sz="2000" dirty="0" err="1"/>
              <a:t>aktuator</a:t>
            </a:r>
            <a:r>
              <a:rPr lang="en-ID" sz="2000" dirty="0"/>
              <a:t>, dan </a:t>
            </a:r>
            <a:r>
              <a:rPr lang="en-ID" sz="2000" dirty="0" err="1"/>
              <a:t>jaringan</a:t>
            </a:r>
            <a:r>
              <a:rPr lang="en-ID" sz="2000" dirty="0"/>
              <a:t> internet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meningkatkan</a:t>
            </a:r>
            <a:r>
              <a:rPr lang="en-ID" sz="2000" dirty="0"/>
              <a:t> </a:t>
            </a:r>
            <a:r>
              <a:rPr lang="en-ID" sz="2000" dirty="0" err="1"/>
              <a:t>kenyamanan</a:t>
            </a:r>
            <a:r>
              <a:rPr lang="en-ID" sz="2000" dirty="0"/>
              <a:t>, </a:t>
            </a:r>
            <a:r>
              <a:rPr lang="en-ID" sz="2000" dirty="0" err="1"/>
              <a:t>keamanan</a:t>
            </a:r>
            <a:r>
              <a:rPr lang="en-ID" sz="2000" dirty="0"/>
              <a:t>, </a:t>
            </a:r>
            <a:r>
              <a:rPr lang="en-ID" sz="2000" dirty="0" err="1"/>
              <a:t>serta</a:t>
            </a:r>
            <a:r>
              <a:rPr lang="en-ID" sz="2000" dirty="0"/>
              <a:t> </a:t>
            </a:r>
            <a:r>
              <a:rPr lang="en-ID" sz="2000" dirty="0" err="1"/>
              <a:t>efisiensi</a:t>
            </a:r>
            <a:r>
              <a:rPr lang="en-ID" sz="2000" dirty="0"/>
              <a:t> </a:t>
            </a:r>
            <a:r>
              <a:rPr lang="en-ID" sz="2000" dirty="0" err="1"/>
              <a:t>penggunaan</a:t>
            </a:r>
            <a:r>
              <a:rPr lang="en-ID" sz="2000" dirty="0"/>
              <a:t> </a:t>
            </a:r>
            <a:r>
              <a:rPr lang="en-ID" sz="2000" dirty="0" err="1"/>
              <a:t>energi</a:t>
            </a:r>
            <a:r>
              <a:rPr lang="en-ID" sz="2000" dirty="0"/>
              <a:t>.</a:t>
            </a:r>
          </a:p>
          <a:p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dirty="0" err="1"/>
              <a:t>teknologi</a:t>
            </a:r>
            <a:r>
              <a:rPr lang="en-ID" sz="2000" dirty="0"/>
              <a:t> IoT, </a:t>
            </a:r>
            <a:r>
              <a:rPr lang="en-ID" sz="2000" dirty="0" err="1"/>
              <a:t>pengguna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memonitor</a:t>
            </a:r>
            <a:r>
              <a:rPr lang="en-ID" sz="2000" dirty="0"/>
              <a:t> dan </a:t>
            </a:r>
            <a:r>
              <a:rPr lang="en-ID" sz="2000" dirty="0" err="1"/>
              <a:t>mengendalikan</a:t>
            </a:r>
            <a:r>
              <a:rPr lang="en-ID" sz="2000" dirty="0"/>
              <a:t> </a:t>
            </a:r>
            <a:r>
              <a:rPr lang="en-ID" sz="2000" dirty="0" err="1"/>
              <a:t>perangkat</a:t>
            </a:r>
            <a:r>
              <a:rPr lang="en-ID" sz="2000" dirty="0"/>
              <a:t> </a:t>
            </a:r>
            <a:r>
              <a:rPr lang="en-ID" sz="2000" dirty="0" err="1"/>
              <a:t>rumah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jarak</a:t>
            </a:r>
            <a:r>
              <a:rPr lang="en-ID" sz="2000" dirty="0"/>
              <a:t> </a:t>
            </a:r>
            <a:r>
              <a:rPr lang="en-ID" sz="2000" dirty="0" err="1"/>
              <a:t>jauh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komputer</a:t>
            </a:r>
            <a:r>
              <a:rPr lang="en-ID" sz="2000" dirty="0"/>
              <a:t> </a:t>
            </a:r>
            <a:r>
              <a:rPr lang="en-ID" sz="2000" dirty="0" err="1"/>
              <a:t>maupun</a:t>
            </a:r>
            <a:r>
              <a:rPr lang="en-ID" sz="2000" dirty="0"/>
              <a:t> smartphone.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6B93EF-3A1D-4DD1-819D-AD0D7EB7C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77" y="3563262"/>
            <a:ext cx="6018916" cy="21613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810F27-B088-4B4C-A06E-F041FAFC8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191" y="3429000"/>
            <a:ext cx="3352801" cy="241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373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0A8A0-9873-4DB1-A72C-A382B6BE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26657"/>
            <a:ext cx="10515600" cy="1325563"/>
          </a:xfrm>
        </p:spPr>
        <p:txBody>
          <a:bodyPr>
            <a:normAutofit/>
          </a:bodyPr>
          <a:lstStyle/>
          <a:p>
            <a:r>
              <a:rPr lang="en-ID" sz="3200" dirty="0" err="1"/>
              <a:t>Tujuan</a:t>
            </a:r>
            <a:r>
              <a:rPr lang="en-ID" sz="3200" dirty="0"/>
              <a:t> dan </a:t>
            </a:r>
            <a:r>
              <a:rPr lang="en-ID" sz="3200" dirty="0" err="1"/>
              <a:t>Manfaat</a:t>
            </a:r>
            <a:endParaRPr lang="en-ID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13C761-AD81-416F-91E3-6A4485CD94E3}"/>
              </a:ext>
            </a:extLst>
          </p:cNvPr>
          <p:cNvSpPr txBox="1"/>
          <p:nvPr/>
        </p:nvSpPr>
        <p:spPr>
          <a:xfrm>
            <a:off x="655093" y="1098906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dirty="0" err="1"/>
              <a:t>Tujuan</a:t>
            </a:r>
            <a:r>
              <a:rPr lang="id-ID" sz="2400" dirty="0"/>
              <a:t> :</a:t>
            </a:r>
            <a:endParaRPr lang="en-ID" sz="2400" dirty="0"/>
          </a:p>
          <a:p>
            <a:pPr marL="457200" indent="-457200">
              <a:buFont typeface="+mj-lt"/>
              <a:buAutoNum type="arabicPeriod"/>
            </a:pPr>
            <a:r>
              <a:rPr lang="en-ID" sz="2400" dirty="0" err="1"/>
              <a:t>Membangun</a:t>
            </a:r>
            <a:r>
              <a:rPr lang="en-ID" sz="2400" dirty="0"/>
              <a:t> </a:t>
            </a:r>
            <a:r>
              <a:rPr lang="en-ID" sz="2400" dirty="0" err="1"/>
              <a:t>simulasi</a:t>
            </a:r>
            <a:r>
              <a:rPr lang="en-ID" sz="2400" dirty="0"/>
              <a:t> Smart Home </a:t>
            </a:r>
            <a:r>
              <a:rPr lang="en-ID" sz="2400" dirty="0" err="1"/>
              <a:t>menggunakan</a:t>
            </a:r>
            <a:r>
              <a:rPr lang="en-ID" sz="2400" dirty="0"/>
              <a:t> Cisco Packet Tracer.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400" dirty="0" err="1"/>
              <a:t>Mengimplementasikan</a:t>
            </a:r>
            <a:r>
              <a:rPr lang="en-ID" sz="2400" dirty="0"/>
              <a:t> Home Gateway </a:t>
            </a:r>
            <a:r>
              <a:rPr lang="en-ID" sz="2400" dirty="0" err="1"/>
              <a:t>sebagai</a:t>
            </a:r>
            <a:r>
              <a:rPr lang="en-ID" sz="2400" dirty="0"/>
              <a:t> </a:t>
            </a:r>
            <a:r>
              <a:rPr lang="en-ID" sz="2400" dirty="0" err="1"/>
              <a:t>pusat</a:t>
            </a:r>
            <a:r>
              <a:rPr lang="en-ID" sz="2400" dirty="0"/>
              <a:t> </a:t>
            </a:r>
            <a:r>
              <a:rPr lang="en-ID" sz="2400" dirty="0" err="1"/>
              <a:t>komunikasi</a:t>
            </a:r>
            <a:r>
              <a:rPr lang="en-ID" sz="2400" dirty="0"/>
              <a:t> </a:t>
            </a:r>
            <a:r>
              <a:rPr lang="en-ID" sz="2400" dirty="0" err="1"/>
              <a:t>perangkat</a:t>
            </a:r>
            <a:r>
              <a:rPr lang="en-ID" sz="2400" dirty="0"/>
              <a:t> IoT.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400" dirty="0" err="1"/>
              <a:t>Mengkonfigurasi</a:t>
            </a:r>
            <a:r>
              <a:rPr lang="en-ID" sz="2400" dirty="0"/>
              <a:t> Registration Server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registrasi</a:t>
            </a:r>
            <a:r>
              <a:rPr lang="en-ID" sz="2400" dirty="0"/>
              <a:t> dan monitoring </a:t>
            </a:r>
            <a:r>
              <a:rPr lang="en-ID" sz="2400" dirty="0" err="1"/>
              <a:t>perangkat</a:t>
            </a:r>
            <a:r>
              <a:rPr lang="en-ID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400" dirty="0" err="1"/>
              <a:t>Menghubungkan</a:t>
            </a:r>
            <a:r>
              <a:rPr lang="en-ID" sz="2400" dirty="0"/>
              <a:t> </a:t>
            </a:r>
            <a:r>
              <a:rPr lang="en-ID" sz="2400" dirty="0" err="1"/>
              <a:t>berbagai</a:t>
            </a:r>
            <a:r>
              <a:rPr lang="en-ID" sz="2400" dirty="0"/>
              <a:t> </a:t>
            </a:r>
            <a:r>
              <a:rPr lang="en-ID" sz="2400" dirty="0" err="1"/>
              <a:t>perangkat</a:t>
            </a:r>
            <a:r>
              <a:rPr lang="en-ID" sz="2400" dirty="0"/>
              <a:t> IoT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satu</a:t>
            </a:r>
            <a:r>
              <a:rPr lang="en-ID" sz="2400" dirty="0"/>
              <a:t> </a:t>
            </a:r>
            <a:r>
              <a:rPr lang="en-ID" sz="2400" dirty="0" err="1"/>
              <a:t>jaringan</a:t>
            </a:r>
            <a:r>
              <a:rPr lang="en-ID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400" dirty="0" err="1"/>
              <a:t>Melakukan</a:t>
            </a:r>
            <a:r>
              <a:rPr lang="en-ID" sz="2400" dirty="0"/>
              <a:t> monitoring dan </a:t>
            </a:r>
            <a:r>
              <a:rPr lang="en-ID" sz="2400" dirty="0" err="1"/>
              <a:t>pengelolaan</a:t>
            </a:r>
            <a:r>
              <a:rPr lang="en-ID" sz="2400" dirty="0"/>
              <a:t> </a:t>
            </a:r>
            <a:r>
              <a:rPr lang="en-ID" sz="2400" dirty="0" err="1"/>
              <a:t>perangkat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remote.</a:t>
            </a:r>
            <a:endParaRPr lang="id-ID" sz="2400" dirty="0"/>
          </a:p>
          <a:p>
            <a:endParaRPr lang="en-ID" sz="2400" dirty="0"/>
          </a:p>
          <a:p>
            <a:r>
              <a:rPr lang="en-ID" sz="2400" dirty="0" err="1"/>
              <a:t>Manfaat</a:t>
            </a:r>
            <a:r>
              <a:rPr lang="id-ID" sz="2400" dirty="0"/>
              <a:t> :</a:t>
            </a:r>
            <a:endParaRPr lang="en-ID" sz="2400" dirty="0"/>
          </a:p>
          <a:p>
            <a:pPr marL="457200" indent="-457200">
              <a:buFont typeface="+mj-lt"/>
              <a:buAutoNum type="arabicPeriod"/>
            </a:pPr>
            <a:r>
              <a:rPr lang="en-ID" sz="2400" dirty="0" err="1"/>
              <a:t>Memudahkan</a:t>
            </a:r>
            <a:r>
              <a:rPr lang="en-ID" sz="2400" dirty="0"/>
              <a:t> </a:t>
            </a:r>
            <a:r>
              <a:rPr lang="en-ID" sz="2400" dirty="0" err="1"/>
              <a:t>pengawasan</a:t>
            </a:r>
            <a:r>
              <a:rPr lang="en-ID" sz="2400" dirty="0"/>
              <a:t> </a:t>
            </a:r>
            <a:r>
              <a:rPr lang="en-ID" sz="2400" dirty="0" err="1"/>
              <a:t>perangkat</a:t>
            </a:r>
            <a:r>
              <a:rPr lang="en-ID" sz="2400" dirty="0"/>
              <a:t> </a:t>
            </a:r>
            <a:r>
              <a:rPr lang="en-ID" sz="2400" dirty="0" err="1"/>
              <a:t>rumah</a:t>
            </a:r>
            <a:r>
              <a:rPr lang="en-ID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keamanan</a:t>
            </a:r>
            <a:r>
              <a:rPr lang="en-ID" sz="2400" dirty="0"/>
              <a:t> </a:t>
            </a:r>
            <a:r>
              <a:rPr lang="en-ID" sz="2400" dirty="0" err="1"/>
              <a:t>melalui</a:t>
            </a:r>
            <a:r>
              <a:rPr lang="en-ID" sz="2400" dirty="0"/>
              <a:t> sensor dan monitoring.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400" dirty="0" err="1"/>
              <a:t>Mendukung</a:t>
            </a:r>
            <a:r>
              <a:rPr lang="en-ID" sz="2400" dirty="0"/>
              <a:t> </a:t>
            </a:r>
            <a:r>
              <a:rPr lang="en-ID" sz="2400" dirty="0" err="1"/>
              <a:t>otomatisasi</a:t>
            </a:r>
            <a:r>
              <a:rPr lang="en-ID" sz="2400" dirty="0"/>
              <a:t> </a:t>
            </a:r>
            <a:r>
              <a:rPr lang="en-ID" sz="2400" dirty="0" err="1"/>
              <a:t>perangkat</a:t>
            </a:r>
            <a:r>
              <a:rPr lang="en-ID" sz="2400" dirty="0"/>
              <a:t> </a:t>
            </a:r>
            <a:r>
              <a:rPr lang="en-ID" sz="2400" dirty="0" err="1"/>
              <a:t>rumah</a:t>
            </a:r>
            <a:r>
              <a:rPr lang="en-ID" sz="2400" dirty="0"/>
              <a:t> </a:t>
            </a:r>
            <a:r>
              <a:rPr lang="en-ID" sz="2400" dirty="0" err="1"/>
              <a:t>tangga</a:t>
            </a:r>
            <a:r>
              <a:rPr lang="en-ID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simulasi</a:t>
            </a:r>
            <a:r>
              <a:rPr lang="en-ID" sz="2400" dirty="0"/>
              <a:t> </a:t>
            </a:r>
            <a:r>
              <a:rPr lang="en-ID" sz="2400" dirty="0" err="1"/>
              <a:t>implementasi</a:t>
            </a:r>
            <a:r>
              <a:rPr lang="en-ID" sz="2400" dirty="0"/>
              <a:t> IoT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kehidupan</a:t>
            </a:r>
            <a:r>
              <a:rPr lang="en-ID" sz="2400" dirty="0"/>
              <a:t> </a:t>
            </a:r>
            <a:r>
              <a:rPr lang="en-ID" sz="2400" dirty="0" err="1"/>
              <a:t>nyata</a:t>
            </a: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213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53EB-FF45-4BC8-A930-E7CD0EC2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000" y="-81351"/>
            <a:ext cx="10515600" cy="1009651"/>
          </a:xfrm>
        </p:spPr>
        <p:txBody>
          <a:bodyPr>
            <a:normAutofit/>
          </a:bodyPr>
          <a:lstStyle/>
          <a:p>
            <a:r>
              <a:rPr lang="en-ID" sz="3200" dirty="0" err="1"/>
              <a:t>Arsitektur</a:t>
            </a:r>
            <a:r>
              <a:rPr lang="en-ID" sz="3200" dirty="0"/>
              <a:t> Smart Home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93937B-EC2E-4A0E-B635-CC0FCEFFE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35" y="2110986"/>
            <a:ext cx="1505160" cy="10860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0D1DCE-9C9E-4B97-AD3F-EEF05E801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30" y="928300"/>
            <a:ext cx="1038370" cy="10288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6EBE42-CDFB-4D39-8501-82ACE952E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30" y="3118012"/>
            <a:ext cx="857370" cy="10860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EFCB088-3989-42CF-A21F-F7403EA77A3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873"/>
          <a:stretch/>
        </p:blipFill>
        <p:spPr>
          <a:xfrm>
            <a:off x="507840" y="4379674"/>
            <a:ext cx="1143160" cy="8313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FF30FFC-1DA6-489A-A26F-098A0BFB51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77" y="5386700"/>
            <a:ext cx="1057423" cy="84784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E8A116A-3E63-4991-B45B-2CA5F29B91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6470" y="1071195"/>
            <a:ext cx="2133441" cy="1526231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6B1C8F2-D9C7-472D-A429-004913B13517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651000" y="1442722"/>
            <a:ext cx="1688548" cy="1942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28758E-249C-44CF-8719-B49866D68B93}"/>
              </a:ext>
            </a:extLst>
          </p:cNvPr>
          <p:cNvCxnSpPr>
            <a:cxnSpLocks/>
          </p:cNvCxnSpPr>
          <p:nvPr/>
        </p:nvCxnSpPr>
        <p:spPr>
          <a:xfrm flipV="1">
            <a:off x="1741500" y="1960758"/>
            <a:ext cx="1598048" cy="4393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91FB3B8-F259-4214-97F4-686D289B08DF}"/>
              </a:ext>
            </a:extLst>
          </p:cNvPr>
          <p:cNvCxnSpPr>
            <a:cxnSpLocks/>
          </p:cNvCxnSpPr>
          <p:nvPr/>
        </p:nvCxnSpPr>
        <p:spPr>
          <a:xfrm flipV="1">
            <a:off x="1417983" y="2358737"/>
            <a:ext cx="1828800" cy="12532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86D998-DE20-4EE2-B0DE-ECA902B7BCC7}"/>
              </a:ext>
            </a:extLst>
          </p:cNvPr>
          <p:cNvCxnSpPr>
            <a:cxnSpLocks/>
          </p:cNvCxnSpPr>
          <p:nvPr/>
        </p:nvCxnSpPr>
        <p:spPr>
          <a:xfrm flipV="1">
            <a:off x="1417983" y="2615025"/>
            <a:ext cx="2027582" cy="20039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0366F7F-4702-4138-B330-1F84870A33B1}"/>
              </a:ext>
            </a:extLst>
          </p:cNvPr>
          <p:cNvCxnSpPr>
            <a:cxnSpLocks/>
          </p:cNvCxnSpPr>
          <p:nvPr/>
        </p:nvCxnSpPr>
        <p:spPr>
          <a:xfrm flipV="1">
            <a:off x="1560500" y="2751268"/>
            <a:ext cx="2070596" cy="28146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24EFA4BD-AB59-4088-A8CB-263520B568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4799" y="3816258"/>
            <a:ext cx="1522428" cy="1749655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152884-3FC2-4407-AD2E-AF97ECC47357}"/>
              </a:ext>
            </a:extLst>
          </p:cNvPr>
          <p:cNvCxnSpPr>
            <a:stCxn id="22" idx="2"/>
          </p:cNvCxnSpPr>
          <p:nvPr/>
        </p:nvCxnSpPr>
        <p:spPr>
          <a:xfrm>
            <a:off x="4173191" y="2597426"/>
            <a:ext cx="12822" cy="10635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13CB0D32-9FC8-46F8-836B-29E4B67173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4246009"/>
            <a:ext cx="1955262" cy="998883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FCB5D94-B5DA-4BBC-9BD3-E1B19785B4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822" y="2997233"/>
            <a:ext cx="1942440" cy="108894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D05A960B-3C59-4354-A4A1-9AAB8BDAC3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0989" y="1934539"/>
            <a:ext cx="938106" cy="98277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B3E6B651-8231-4BFE-BB17-6E7C17D04CD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5073" y="977778"/>
            <a:ext cx="974022" cy="796928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74F26E6-2175-400C-9E5C-BC8B2893FD16}"/>
              </a:ext>
            </a:extLst>
          </p:cNvPr>
          <p:cNvCxnSpPr/>
          <p:nvPr/>
        </p:nvCxnSpPr>
        <p:spPr>
          <a:xfrm>
            <a:off x="4779869" y="4897260"/>
            <a:ext cx="141798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84E33F8-587C-45BD-9E4E-4858210400B8}"/>
              </a:ext>
            </a:extLst>
          </p:cNvPr>
          <p:cNvCxnSpPr>
            <a:cxnSpLocks/>
          </p:cNvCxnSpPr>
          <p:nvPr/>
        </p:nvCxnSpPr>
        <p:spPr>
          <a:xfrm flipV="1">
            <a:off x="4819921" y="3894399"/>
            <a:ext cx="1311535" cy="5634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59AF0F3-832D-4EB2-81A6-25DBD40F9DBF}"/>
              </a:ext>
            </a:extLst>
          </p:cNvPr>
          <p:cNvCxnSpPr/>
          <p:nvPr/>
        </p:nvCxnSpPr>
        <p:spPr>
          <a:xfrm flipV="1">
            <a:off x="4819869" y="2650445"/>
            <a:ext cx="1647435" cy="14418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84D008A-D4EE-4CAC-9566-AB7D3EBCF450}"/>
              </a:ext>
            </a:extLst>
          </p:cNvPr>
          <p:cNvCxnSpPr/>
          <p:nvPr/>
        </p:nvCxnSpPr>
        <p:spPr>
          <a:xfrm flipV="1">
            <a:off x="4839896" y="1662932"/>
            <a:ext cx="1688968" cy="19819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1EC92AC-43A3-4E67-B92C-0B54985639DC}"/>
              </a:ext>
            </a:extLst>
          </p:cNvPr>
          <p:cNvSpPr txBox="1"/>
          <p:nvPr/>
        </p:nvSpPr>
        <p:spPr>
          <a:xfrm rot="16200000">
            <a:off x="-778311" y="2957433"/>
            <a:ext cx="2354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600" dirty="0"/>
              <a:t>IoT Device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57C8D10-9AFC-4A71-96F3-A33FE441F7E0}"/>
              </a:ext>
            </a:extLst>
          </p:cNvPr>
          <p:cNvSpPr txBox="1"/>
          <p:nvPr/>
        </p:nvSpPr>
        <p:spPr>
          <a:xfrm rot="5400000">
            <a:off x="7658975" y="2618707"/>
            <a:ext cx="1083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3600" dirty="0"/>
              <a:t>User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3B58A50-0FBA-49E5-9BA8-4A80C860E1C2}"/>
              </a:ext>
            </a:extLst>
          </p:cNvPr>
          <p:cNvSpPr txBox="1"/>
          <p:nvPr/>
        </p:nvSpPr>
        <p:spPr>
          <a:xfrm>
            <a:off x="8544739" y="795783"/>
            <a:ext cx="28863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dirty="0" err="1"/>
              <a:t>Sistem</a:t>
            </a:r>
            <a:r>
              <a:rPr lang="en-ID" dirty="0"/>
              <a:t> Smart Home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empat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. IoT Device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yang </a:t>
            </a:r>
            <a:r>
              <a:rPr lang="en-ID" dirty="0" err="1"/>
              <a:t>melakukan</a:t>
            </a:r>
            <a:r>
              <a:rPr lang="en-ID" dirty="0"/>
              <a:t> sensing dan </a:t>
            </a:r>
            <a:r>
              <a:rPr lang="en-ID" dirty="0" err="1"/>
              <a:t>kontrol</a:t>
            </a:r>
            <a:r>
              <a:rPr lang="en-ID" dirty="0"/>
              <a:t>. Home Gateway </a:t>
            </a:r>
            <a:r>
              <a:rPr lang="en-ID" dirty="0" err="1"/>
              <a:t>berperan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penghubung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IoT dan </a:t>
            </a:r>
            <a:r>
              <a:rPr lang="en-ID" dirty="0" err="1"/>
              <a:t>jaringan</a:t>
            </a:r>
            <a:r>
              <a:rPr lang="en-ID" dirty="0"/>
              <a:t>. Registration Server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data </a:t>
            </a:r>
            <a:r>
              <a:rPr lang="en-ID" dirty="0" err="1"/>
              <a:t>perangkat</a:t>
            </a:r>
            <a:r>
              <a:rPr lang="en-ID" dirty="0"/>
              <a:t> dan </a:t>
            </a: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monitoring. </a:t>
            </a:r>
            <a:r>
              <a:rPr lang="en-ID" dirty="0" err="1"/>
              <a:t>Sedangkan</a:t>
            </a:r>
            <a:r>
              <a:rPr lang="en-ID" dirty="0"/>
              <a:t> User </a:t>
            </a:r>
            <a:r>
              <a:rPr lang="en-ID" dirty="0" err="1"/>
              <a:t>menggunakan</a:t>
            </a:r>
            <a:r>
              <a:rPr lang="en-ID" dirty="0"/>
              <a:t> laptop </a:t>
            </a:r>
            <a:r>
              <a:rPr lang="en-ID" dirty="0" err="1"/>
              <a:t>atau</a:t>
            </a:r>
            <a:r>
              <a:rPr lang="en-ID" dirty="0"/>
              <a:t> smartphone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memantau</a:t>
            </a:r>
            <a:r>
              <a:rPr lang="en-ID" dirty="0"/>
              <a:t> dan </a:t>
            </a:r>
            <a:r>
              <a:rPr lang="en-ID" dirty="0" err="1"/>
              <a:t>mengendalikan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dashboard </a:t>
            </a:r>
            <a:r>
              <a:rPr lang="en-ID" dirty="0" err="1"/>
              <a:t>berbasis</a:t>
            </a:r>
            <a:r>
              <a:rPr lang="en-ID" dirty="0"/>
              <a:t> web.</a:t>
            </a:r>
          </a:p>
        </p:txBody>
      </p:sp>
    </p:spTree>
    <p:extLst>
      <p:ext uri="{BB962C8B-B14F-4D97-AF65-F5344CB8AC3E}">
        <p14:creationId xmlns:p14="http://schemas.microsoft.com/office/powerpoint/2010/main" val="2513623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A1BC3-EA32-4B4B-975C-248F85CF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791" y="-62633"/>
            <a:ext cx="3426949" cy="1009651"/>
          </a:xfrm>
        </p:spPr>
        <p:txBody>
          <a:bodyPr>
            <a:normAutofit/>
          </a:bodyPr>
          <a:lstStyle/>
          <a:p>
            <a:r>
              <a:rPr lang="en-ID" sz="3200" dirty="0" err="1"/>
              <a:t>Topologi</a:t>
            </a:r>
            <a:r>
              <a:rPr lang="en-ID" sz="3200" dirty="0"/>
              <a:t> </a:t>
            </a:r>
            <a:r>
              <a:rPr lang="en-ID" sz="3200" dirty="0" err="1"/>
              <a:t>Jaringan</a:t>
            </a:r>
            <a:endParaRPr lang="en-ID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C1DA31-60B8-4851-AC08-2F76D3633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28" y="947018"/>
            <a:ext cx="10932963" cy="472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08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5E86A-A8E2-444D-8CC2-4EC21579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069" y="-52086"/>
            <a:ext cx="5019261" cy="1009651"/>
          </a:xfrm>
        </p:spPr>
        <p:txBody>
          <a:bodyPr>
            <a:normAutofit/>
          </a:bodyPr>
          <a:lstStyle/>
          <a:p>
            <a:r>
              <a:rPr lang="en-ID" sz="3200" dirty="0" err="1"/>
              <a:t>Konfigurasi</a:t>
            </a:r>
            <a:r>
              <a:rPr lang="en-ID" sz="3200" dirty="0"/>
              <a:t> Home Gateway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3534A7-9D42-4B9A-8B51-0050532FD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422824"/>
              </p:ext>
            </p:extLst>
          </p:nvPr>
        </p:nvGraphicFramePr>
        <p:xfrm>
          <a:off x="400878" y="1485993"/>
          <a:ext cx="4104862" cy="3150612"/>
        </p:xfrm>
        <a:graphic>
          <a:graphicData uri="http://schemas.openxmlformats.org/drawingml/2006/table">
            <a:tbl>
              <a:tblPr/>
              <a:tblGrid>
                <a:gridCol w="2052431">
                  <a:extLst>
                    <a:ext uri="{9D8B030D-6E8A-4147-A177-3AD203B41FA5}">
                      <a16:colId xmlns:a16="http://schemas.microsoft.com/office/drawing/2014/main" val="4102681328"/>
                    </a:ext>
                  </a:extLst>
                </a:gridCol>
                <a:gridCol w="2052431">
                  <a:extLst>
                    <a:ext uri="{9D8B030D-6E8A-4147-A177-3AD203B41FA5}">
                      <a16:colId xmlns:a16="http://schemas.microsoft.com/office/drawing/2014/main" val="1252069031"/>
                    </a:ext>
                  </a:extLst>
                </a:gridCol>
              </a:tblGrid>
              <a:tr h="525102">
                <a:tc>
                  <a:txBody>
                    <a:bodyPr/>
                    <a:lstStyle/>
                    <a:p>
                      <a:r>
                        <a:rPr lang="en-ID" sz="2400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2400"/>
                        <a:t>Nilai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119978"/>
                  </a:ext>
                </a:extLst>
              </a:tr>
              <a:tr h="525102">
                <a:tc>
                  <a:txBody>
                    <a:bodyPr/>
                    <a:lstStyle/>
                    <a:p>
                      <a:r>
                        <a:rPr lang="en-ID" sz="2400"/>
                        <a:t>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2400"/>
                        <a:t>DLC100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3279589"/>
                  </a:ext>
                </a:extLst>
              </a:tr>
              <a:tr h="525102">
                <a:tc>
                  <a:txBody>
                    <a:bodyPr/>
                    <a:lstStyle/>
                    <a:p>
                      <a:r>
                        <a:rPr lang="en-ID" sz="2400"/>
                        <a:t>IP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2400"/>
                        <a:t>192.168.25.1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660837"/>
                  </a:ext>
                </a:extLst>
              </a:tr>
              <a:tr h="525102">
                <a:tc>
                  <a:txBody>
                    <a:bodyPr/>
                    <a:lstStyle/>
                    <a:p>
                      <a:r>
                        <a:rPr lang="en-ID" sz="2400"/>
                        <a:t>SSID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2400"/>
                        <a:t>Smarthome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578494"/>
                  </a:ext>
                </a:extLst>
              </a:tr>
              <a:tr h="525102">
                <a:tc>
                  <a:txBody>
                    <a:bodyPr/>
                    <a:lstStyle/>
                    <a:p>
                      <a:r>
                        <a:rPr lang="en-ID" sz="2400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2400"/>
                        <a:t>WPA2-PSK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271848"/>
                  </a:ext>
                </a:extLst>
              </a:tr>
              <a:tr h="525102">
                <a:tc>
                  <a:txBody>
                    <a:bodyPr/>
                    <a:lstStyle/>
                    <a:p>
                      <a:r>
                        <a:rPr lang="en-ID" sz="2400"/>
                        <a:t>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2400" dirty="0"/>
                        <a:t>12345678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35670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EB4CACB-5B1A-441D-8E5E-1AC2C77B6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668" y="901242"/>
            <a:ext cx="7514186" cy="432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11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8DA6-B411-43AB-9913-480A5D7A9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809" y="-12469"/>
            <a:ext cx="6715539" cy="1009651"/>
          </a:xfrm>
        </p:spPr>
        <p:txBody>
          <a:bodyPr>
            <a:normAutofit/>
          </a:bodyPr>
          <a:lstStyle/>
          <a:p>
            <a:r>
              <a:rPr lang="en-ID" sz="3200" dirty="0" err="1"/>
              <a:t>Konfigurasi</a:t>
            </a:r>
            <a:r>
              <a:rPr lang="en-ID" sz="3200" dirty="0"/>
              <a:t> Registration Server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139DB19-DF7D-4161-B9A7-5DB55D6708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300880"/>
              </p:ext>
            </p:extLst>
          </p:nvPr>
        </p:nvGraphicFramePr>
        <p:xfrm>
          <a:off x="268356" y="1215687"/>
          <a:ext cx="4144616" cy="1828800"/>
        </p:xfrm>
        <a:graphic>
          <a:graphicData uri="http://schemas.openxmlformats.org/drawingml/2006/table">
            <a:tbl>
              <a:tblPr/>
              <a:tblGrid>
                <a:gridCol w="2072308">
                  <a:extLst>
                    <a:ext uri="{9D8B030D-6E8A-4147-A177-3AD203B41FA5}">
                      <a16:colId xmlns:a16="http://schemas.microsoft.com/office/drawing/2014/main" val="470357803"/>
                    </a:ext>
                  </a:extLst>
                </a:gridCol>
                <a:gridCol w="2072308">
                  <a:extLst>
                    <a:ext uri="{9D8B030D-6E8A-4147-A177-3AD203B41FA5}">
                      <a16:colId xmlns:a16="http://schemas.microsoft.com/office/drawing/2014/main" val="135288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D" sz="2400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2400"/>
                        <a:t>Nilai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65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D" sz="2400"/>
                        <a:t>IP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2400"/>
                        <a:t>192.168.25.2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709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D" sz="2400"/>
                        <a:t>Subnet Mask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2400"/>
                        <a:t>255.255.255.0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43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D" sz="2400"/>
                        <a:t>Gateway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2400" dirty="0"/>
                        <a:t>192.168.25.1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356186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D46785B-61BE-4F27-A0EC-3B70D7AA1219}"/>
              </a:ext>
            </a:extLst>
          </p:cNvPr>
          <p:cNvSpPr txBox="1"/>
          <p:nvPr/>
        </p:nvSpPr>
        <p:spPr>
          <a:xfrm>
            <a:off x="268356" y="3286183"/>
            <a:ext cx="28757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/>
              <a:t>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400" dirty="0"/>
              <a:t>HTTP 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400" dirty="0"/>
              <a:t>HTTPS 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400" dirty="0"/>
              <a:t>IoT 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400" dirty="0"/>
              <a:t>Registration Server 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57DFD0-164F-4EAC-BA7F-BBB9DE7D6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394" y="886773"/>
            <a:ext cx="4266575" cy="3367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01A7D0-EB7B-438A-B53E-9D435EBE9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256" y="3044487"/>
            <a:ext cx="3800138" cy="312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78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FCF3-D66A-4607-A6C2-C45089A94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127" y="-55911"/>
            <a:ext cx="3696473" cy="1009651"/>
          </a:xfrm>
        </p:spPr>
        <p:txBody>
          <a:bodyPr>
            <a:normAutofit/>
          </a:bodyPr>
          <a:lstStyle/>
          <a:p>
            <a:r>
              <a:rPr lang="en-ID" sz="3200" dirty="0" err="1"/>
              <a:t>Registrasi</a:t>
            </a:r>
            <a:r>
              <a:rPr lang="en-ID" sz="3200" dirty="0"/>
              <a:t> User IoT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60AD71-03E6-49A0-A26B-F5259447E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880" y="595422"/>
            <a:ext cx="7482847" cy="56671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1498CB-7E90-40C9-A2A3-5CAE83CF8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78" y="953740"/>
            <a:ext cx="3890235" cy="168621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6E528C0-D966-41C3-9D34-54089B62AC83}"/>
              </a:ext>
            </a:extLst>
          </p:cNvPr>
          <p:cNvSpPr txBox="1">
            <a:spLocks/>
          </p:cNvSpPr>
          <p:nvPr/>
        </p:nvSpPr>
        <p:spPr>
          <a:xfrm>
            <a:off x="456478" y="2639953"/>
            <a:ext cx="3696473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3200" dirty="0" err="1"/>
              <a:t>Registrasi</a:t>
            </a:r>
            <a:r>
              <a:rPr lang="en-ID" sz="3200" dirty="0"/>
              <a:t> User IoT</a:t>
            </a:r>
            <a:r>
              <a:rPr lang="id-ID" sz="3200" dirty="0"/>
              <a:t> </a:t>
            </a:r>
            <a:r>
              <a:rPr lang="id-ID" sz="3200" dirty="0" err="1"/>
              <a:t>default</a:t>
            </a:r>
            <a:r>
              <a:rPr lang="id-ID" sz="3200" dirty="0"/>
              <a:t> </a:t>
            </a:r>
            <a:r>
              <a:rPr lang="id-ID" sz="3200" dirty="0" err="1"/>
              <a:t>Packet</a:t>
            </a:r>
            <a:r>
              <a:rPr lang="id-ID" sz="3200" dirty="0"/>
              <a:t> </a:t>
            </a:r>
            <a:r>
              <a:rPr lang="id-ID" sz="3200" dirty="0" err="1"/>
              <a:t>tracer</a:t>
            </a:r>
            <a:endParaRPr lang="en-ID" sz="32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3E237CD-81A2-4503-92C6-74D20FAB424F}"/>
              </a:ext>
            </a:extLst>
          </p:cNvPr>
          <p:cNvSpPr txBox="1">
            <a:spLocks/>
          </p:cNvSpPr>
          <p:nvPr/>
        </p:nvSpPr>
        <p:spPr>
          <a:xfrm>
            <a:off x="562495" y="4326166"/>
            <a:ext cx="3696473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3200" dirty="0" err="1"/>
              <a:t>Registrasi</a:t>
            </a:r>
            <a:r>
              <a:rPr lang="en-ID" sz="3200" dirty="0"/>
              <a:t> User IoT</a:t>
            </a:r>
            <a:r>
              <a:rPr lang="id-ID" sz="3200" dirty="0"/>
              <a:t> </a:t>
            </a:r>
            <a:r>
              <a:rPr lang="id-ID" sz="3200" dirty="0" err="1"/>
              <a:t>Custom</a:t>
            </a:r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1380664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38CCF-2052-4E0D-8952-9FACBF32F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983" y="-191467"/>
            <a:ext cx="10515600" cy="1325563"/>
          </a:xfrm>
        </p:spPr>
        <p:txBody>
          <a:bodyPr>
            <a:normAutofit/>
          </a:bodyPr>
          <a:lstStyle/>
          <a:p>
            <a:r>
              <a:rPr lang="id-ID" sz="3200" dirty="0"/>
              <a:t>Registrasi </a:t>
            </a:r>
            <a:r>
              <a:rPr lang="id-ID" sz="3200" dirty="0" err="1"/>
              <a:t>IoT</a:t>
            </a:r>
            <a:r>
              <a:rPr lang="id-ID" sz="3200" dirty="0"/>
              <a:t> ke server</a:t>
            </a:r>
            <a:endParaRPr lang="en-ID" sz="3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E0FE05-12F4-4487-8D04-FB26D5D14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780" y="1025357"/>
            <a:ext cx="4190238" cy="50556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2A4251-D29E-41F0-A3E2-4F06350E8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018" y="1025357"/>
            <a:ext cx="4649017" cy="50556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AFAC10-8ED6-4EB4-B9D5-9FE529CF4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54" y="1134095"/>
            <a:ext cx="1582926" cy="502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16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884A5C-50BC-4D7F-B80B-2636687B8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-191467"/>
            <a:ext cx="10515600" cy="1325563"/>
          </a:xfrm>
        </p:spPr>
        <p:txBody>
          <a:bodyPr>
            <a:normAutofit/>
          </a:bodyPr>
          <a:lstStyle/>
          <a:p>
            <a:r>
              <a:rPr lang="en-ID" sz="3200" dirty="0"/>
              <a:t>Smart Home Web Portal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1D7E1E-F442-4A8D-B430-D449DB89D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078" y="804341"/>
            <a:ext cx="2552459" cy="16268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79A68E-DBE9-487A-8960-2D6CA7390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079" y="2491073"/>
            <a:ext cx="2535348" cy="24802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F53B93-54EF-4169-9EF7-C6576AB10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079" y="5117119"/>
            <a:ext cx="2535348" cy="9294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C3C69EC-07D3-4544-8534-A3C5BF2DC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573" y="918060"/>
            <a:ext cx="2080551" cy="18425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B2A8A8D-D263-47BF-962F-4CE32036D4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0428" y="2806811"/>
            <a:ext cx="2064696" cy="14880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1B674A6-21EC-4836-B3EA-EA1E15470C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8932" y="4429194"/>
            <a:ext cx="2996410" cy="163906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9F7563E-B28F-4745-AEA9-D63D56AD97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4220" y="724419"/>
            <a:ext cx="3261669" cy="20550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3E31A98-D32D-401C-9D56-09A1DEED1D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4220" y="2846624"/>
            <a:ext cx="3202684" cy="14482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12680AF-69E7-4DA0-9FEB-B9B5086EFE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6352" y="4429194"/>
            <a:ext cx="2080552" cy="161739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BA5D5F3-7CDB-4889-855F-FD38D3716F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808" y="821476"/>
            <a:ext cx="3457270" cy="524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943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1E564F-1861-4814-8925-80A588F5F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060" y="-204718"/>
            <a:ext cx="10515600" cy="1325563"/>
          </a:xfrm>
        </p:spPr>
        <p:txBody>
          <a:bodyPr>
            <a:normAutofit/>
          </a:bodyPr>
          <a:lstStyle/>
          <a:p>
            <a:r>
              <a:rPr lang="en-ID" sz="3200" dirty="0"/>
              <a:t>Hasil </a:t>
            </a:r>
            <a:r>
              <a:rPr lang="en-ID" sz="3200" dirty="0" err="1"/>
              <a:t>Pengujian</a:t>
            </a:r>
            <a:r>
              <a:rPr lang="en-ID" sz="3200" dirty="0"/>
              <a:t> </a:t>
            </a:r>
            <a:r>
              <a:rPr lang="en-ID" sz="3200" dirty="0" err="1"/>
              <a:t>Sistem</a:t>
            </a:r>
            <a:endParaRPr lang="en-ID" sz="32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9E0224B-F614-4736-BD42-458C78DBB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8049"/>
              </p:ext>
            </p:extLst>
          </p:nvPr>
        </p:nvGraphicFramePr>
        <p:xfrm>
          <a:off x="785191" y="1120845"/>
          <a:ext cx="3442252" cy="2133600"/>
        </p:xfrm>
        <a:graphic>
          <a:graphicData uri="http://schemas.openxmlformats.org/drawingml/2006/table">
            <a:tbl>
              <a:tblPr/>
              <a:tblGrid>
                <a:gridCol w="1721126">
                  <a:extLst>
                    <a:ext uri="{9D8B030D-6E8A-4147-A177-3AD203B41FA5}">
                      <a16:colId xmlns:a16="http://schemas.microsoft.com/office/drawing/2014/main" val="3837191557"/>
                    </a:ext>
                  </a:extLst>
                </a:gridCol>
                <a:gridCol w="1721126">
                  <a:extLst>
                    <a:ext uri="{9D8B030D-6E8A-4147-A177-3AD203B41FA5}">
                      <a16:colId xmlns:a16="http://schemas.microsoft.com/office/drawing/2014/main" val="2306347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D" sz="1400"/>
                        <a:t>Pengujian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Hasil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529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D" sz="1400"/>
                        <a:t>Koneksi Wireless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 err="1"/>
                        <a:t>Berhasil</a:t>
                      </a:r>
                      <a:endParaRPr lang="en-ID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67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D" sz="1400"/>
                        <a:t>Registrasi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Berhasil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917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D" sz="1400"/>
                        <a:t>Login Administrator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Berhasil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2418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D" sz="1400"/>
                        <a:t>Registrasi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/>
                        <a:t>Berhasil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1742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D" sz="1400"/>
                        <a:t>Monitoring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 err="1"/>
                        <a:t>Berhasil</a:t>
                      </a:r>
                      <a:endParaRPr lang="en-ID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70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D" sz="1400"/>
                        <a:t>Dashboard Portal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400" dirty="0" err="1"/>
                        <a:t>Berhasil</a:t>
                      </a:r>
                      <a:endParaRPr lang="en-ID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001454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8CB58E3-E686-42D8-B3E8-5EA6A8004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339" y="641151"/>
            <a:ext cx="4303644" cy="52824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63BD43-808D-46AA-AEAB-36D811F29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46" y="3429000"/>
            <a:ext cx="2815779" cy="18907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0D6BBF-6EBF-484B-AC97-860EB020C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584" y="1300124"/>
            <a:ext cx="2711650" cy="19543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249E14-D5CD-4E5B-8F8A-03ADDCDD1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6584" y="3429000"/>
            <a:ext cx="2733273" cy="172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8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3F1366-9A11-497C-9630-11F30ED4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522" y="2103437"/>
            <a:ext cx="10515600" cy="2521572"/>
          </a:xfrm>
        </p:spPr>
        <p:txBody>
          <a:bodyPr>
            <a:normAutofit fontScale="90000"/>
          </a:bodyPr>
          <a:lstStyle/>
          <a:p>
            <a:pPr algn="ctr"/>
            <a:r>
              <a:rPr lang="fi-FI" b="1" dirty="0"/>
              <a:t>Terima Kasih</a:t>
            </a:r>
            <a:br>
              <a:rPr lang="fi-FI" b="1" dirty="0"/>
            </a:br>
            <a:br>
              <a:rPr lang="fi-FI" b="1" dirty="0"/>
            </a:br>
            <a:r>
              <a:rPr lang="fi-FI" b="1" dirty="0"/>
              <a:t>Hasta Satriya</a:t>
            </a:r>
            <a:br>
              <a:rPr lang="fi-FI" b="1" dirty="0"/>
            </a:br>
            <a:r>
              <a:rPr lang="fi-FI" b="1" dirty="0"/>
              <a:t>240401010207</a:t>
            </a:r>
            <a:br>
              <a:rPr lang="id-ID" b="1" dirty="0"/>
            </a:br>
            <a:r>
              <a:rPr lang="id-ID" b="1" dirty="0"/>
              <a:t>IF603 PJJ INFORMATIKA</a:t>
            </a:r>
            <a:br>
              <a:rPr lang="id-ID" b="1" dirty="0"/>
            </a:br>
            <a:r>
              <a:rPr lang="id-ID" b="1" dirty="0"/>
              <a:t>UNIVERSITAS SIBER ASIA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3418395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422</Words>
  <Application>Microsoft Office PowerPoint</Application>
  <PresentationFormat>Widescreen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Profil Proyek</vt:lpstr>
      <vt:lpstr>Latar Belakang</vt:lpstr>
      <vt:lpstr>Tujuan dan Manfaat</vt:lpstr>
      <vt:lpstr>Arsitektur Smart Home</vt:lpstr>
      <vt:lpstr>Topologi Jaringan</vt:lpstr>
      <vt:lpstr>Konfigurasi Home Gateway</vt:lpstr>
      <vt:lpstr>Konfigurasi Registration Server</vt:lpstr>
      <vt:lpstr>Registrasi User IoT</vt:lpstr>
      <vt:lpstr>Registrasi IoT ke server</vt:lpstr>
      <vt:lpstr>Smart Home Web Portal</vt:lpstr>
      <vt:lpstr>Hasil Pengujian Sistem</vt:lpstr>
      <vt:lpstr>Terima Kasih  Hasta Satriya 240401010207 IF603 PJJ INFORMATIKA UNIVERSITAS SIBER ASIA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Hasta Satriya</dc:creator>
  <cp:lastModifiedBy>Hasta Satriya</cp:lastModifiedBy>
  <cp:revision>26</cp:revision>
  <dcterms:created xsi:type="dcterms:W3CDTF">2026-06-15T15:29:51Z</dcterms:created>
  <dcterms:modified xsi:type="dcterms:W3CDTF">2026-06-16T09:45:35Z</dcterms:modified>
</cp:coreProperties>
</file>